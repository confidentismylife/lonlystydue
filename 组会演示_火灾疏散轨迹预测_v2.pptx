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457200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1A2E"/>
                </a:solidFill>
                <a:latin typeface="Microsoft YaHei"/>
              </a:defRPr>
            </a:pPr>
            <a:r>
              <a:t>火灾疏散场景下的行人轨迹预测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56DEB"/>
                </a:solidFill>
                <a:latin typeface="Microsoft YaHei"/>
              </a:defRPr>
            </a:pPr>
            <a:r>
              <a:t>基于 Social-LSTM 的社交池化轨迹预测模型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Microsoft YaHei"/>
              </a:defRPr>
            </a:pPr>
            <a:r>
              <a:t>Social-LSTM: Human Trajectory Prediction in Crowded Spaces  |  CVPR 2016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A2E"/>
                </a:solidFill>
                <a:latin typeface="Microsoft YaHei"/>
              </a:defRPr>
            </a:pPr>
            <a:r>
              <a:t>组 会 汇 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577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Microsoft YaHei"/>
              </a:defRPr>
            </a:pPr>
            <a:r>
              <a:t>2026 年 5 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Microsoft YaHei"/>
              </a:defRPr>
            </a:pPr>
            <a:r>
              <a:t>github.com/confidentismylife/LonlyStydue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Microsoft YaHe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Microsoft YaHei"/>
              </a:defRPr>
            </a:pPr>
            <a:r>
              <a:t>目  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25400"/>
          </a:xfrm>
          <a:prstGeom prst="rect">
            <a:avLst/>
          </a:prstGeom>
          <a:solidFill>
            <a:srgbClr val="256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56DEB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371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研究背景与问题定义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66420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Microsoft YaHei"/>
              </a:defRPr>
            </a:pPr>
            <a:r>
              <a:t>火灾疏散的痛点 &amp; 轨迹预测的价值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9339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56DEB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9933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数据集：ETH/UCY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2860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Microsoft YaHei"/>
              </a:defRPr>
            </a:pPr>
            <a:r>
              <a:t>数据格式、场景统计、评估协议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1518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56DEB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61518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数据预处理管道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9077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Microsoft YaHei"/>
              </a:defRPr>
            </a:pPr>
            <a:r>
              <a:t>场景级加载、归一化、滑动窗口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236976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56DEB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23697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模型架构：Social-LSTM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52958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Microsoft YaHei"/>
              </a:defRPr>
            </a:pPr>
            <a:r>
              <a:t>社交池化、LSTMCell、编码-解码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85876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56DEB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8587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训练策略与加速优化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15137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Microsoft YaHei"/>
              </a:defRPr>
            </a:pPr>
            <a:r>
              <a:t>场景打包批处理、梯度管理、CPU 加速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4805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56DEB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4480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实验结果与分析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47731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Microsoft YaHei"/>
              </a:defRPr>
            </a:pPr>
            <a:r>
              <a:t>ADE/FDE、模型对比、消融分析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10235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56DEB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51023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代码工程架构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5394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Microsoft YaHei"/>
              </a:defRPr>
            </a:pPr>
            <a:r>
              <a:t>模块化设计、文件职责、技术栈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72414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56DEB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572414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未来工作与论文方向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60167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Microsoft YaHei"/>
              </a:defRPr>
            </a:pPr>
            <a:r>
              <a:t>火灾特征、多模态、损失升级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Microsoft YaHei"/>
              </a:defRPr>
            </a:pPr>
            <a:r>
              <a:t>01  研究背景与问题定义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25400"/>
          </a:xfrm>
          <a:prstGeom prst="rect">
            <a:avLst/>
          </a:prstGeom>
          <a:solidFill>
            <a:srgbClr val="256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3474720" cy="2194560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DEB"/>
                </a:solidFill>
                <a:latin typeface="Microsoft YaHei"/>
              </a:defRPr>
            </a:pPr>
            <a:r>
              <a:t>DC2626 火灾疏散的现实痛点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310896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44"/>
                </a:solidFill>
                <a:latin typeface="Microsoft YaHei"/>
              </a:defRPr>
            </a:pPr>
            <a:r>
              <a:t>  火灾发生时人群恐慌，行为高度不确定</a:t>
            </a:r>
            <a:br/>
            <a:r>
              <a:t>  传统模拟工具 (Pathfinder/FDS) 假设行人理性匀速行走</a:t>
            </a:r>
            <a:br/>
            <a:r>
              <a:t>  烟雾/高温/能见度变化严重影响决策</a:t>
            </a:r>
            <a:br/>
            <a:r>
              <a:t>  缺少数据驱动的方法来建模真实行人交互</a:t>
            </a:r>
            <a:br/>
            <a:r>
              <a:t>  现有疏散方案忽视了个体间微观行为差异</a:t>
            </a:r>
            <a:br/>
            <a:r>
              <a:t>  实时轨迹预测 → 动态引导 → 减少伤亡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188720"/>
            <a:ext cx="3474720" cy="2194560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2801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DEB"/>
                </a:solidFill>
                <a:latin typeface="Microsoft YaHei"/>
              </a:defRPr>
            </a:pPr>
            <a:r>
              <a:t>256DEB 轨迹预测的技术价值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600200"/>
            <a:ext cx="310896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44"/>
                </a:solidFill>
                <a:latin typeface="Microsoft YaHei"/>
              </a:defRPr>
            </a:pPr>
            <a:r>
              <a:t>  输入：行人过去 3.2s (8帧) 的位置序列</a:t>
            </a:r>
            <a:br/>
            <a:r>
              <a:t>  输出：未来 4.8s (12帧) 的运动轨迹</a:t>
            </a:r>
            <a:br/>
            <a:r>
              <a:t>  识别拥堵瓶颈 → 提前预警</a:t>
            </a:r>
            <a:br/>
            <a:r>
              <a:t>  为消防机器人/无人机提供避障路径</a:t>
            </a:r>
            <a:br/>
            <a:r>
              <a:t>  智慧楼宇数字孪生的核心感知模块</a:t>
            </a:r>
            <a:br/>
            <a:r>
              <a:t>  辅助应急指挥决策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1188720"/>
            <a:ext cx="3200400" cy="2194560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59" y="12801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DEB"/>
                </a:solidFill>
                <a:latin typeface="Microsoft YaHei"/>
              </a:defRPr>
            </a:pPr>
            <a:r>
              <a:t>D97706 核心研究问题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59" y="1600200"/>
            <a:ext cx="2834640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44"/>
                </a:solidFill>
                <a:latin typeface="Microsoft YaHei"/>
              </a:defRPr>
            </a:pPr>
            <a:r>
              <a:t>  Q1: 如何建模行人间的社交交互？</a:t>
            </a:r>
            <a:br/>
            <a:r>
              <a:t>    → 社交池化 (Social Pooling)</a:t>
            </a:r>
            <a:br/>
            <a:r>
              <a:t>  Q2: 如何让模型"看见"周围人？</a:t>
            </a:r>
            <a:br/>
            <a:r>
              <a:t>    → 空间网格 + 隐藏状态求和</a:t>
            </a:r>
            <a:br/>
            <a:r>
              <a:t>  Q3: 如何高效训练（无 GPU）？</a:t>
            </a:r>
            <a:br/>
            <a:r>
              <a:t>    → 场景打包批处理 (3.4x 加速)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49039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icrosoft YaHei"/>
              </a:defRPr>
            </a:pPr>
            <a:r>
              <a:t>▎问题形式化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14800"/>
            <a:ext cx="10698480" cy="1463040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256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20624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44"/>
                </a:solidFill>
                <a:latin typeface="Microsoft YaHei"/>
              </a:defRPr>
            </a:pPr>
            <a:r>
              <a:t>给定:  T_obs = [p₁ᵗ⁻⁷, p₁ᵗ⁻⁶, ..., p₁ᵗ⁻¹, p₁ᵗ]  × N 个行人    其中 p = (x, y)</a:t>
            </a:r>
            <a:br/>
            <a:r>
              <a:t>       ───────── 8 帧观测轨迹 ─────────</a:t>
            </a:r>
            <a:br/>
            <a:br/>
            <a:r>
              <a:t>目标:  T_pred = [p̂₁ᵗ⁺¹, p̂₁ᵗ⁺², ..., p̂₁ᵗ⁺¹²]                       预测未来 12 帧位置</a:t>
            </a:r>
            <a:br/>
            <a:r>
              <a:t>       ───────── 12 帧预测轨迹 ─────────</a:t>
            </a:r>
            <a:br/>
            <a:br/>
            <a:r>
              <a:t>约束:  考虑所有邻居 j 对行人 i 的影响 (j ≠ i)，即社交交互项 Sᵢᵗ = Pooling(hⱼᵗ⁻¹, pⱼᵗ − pᵢᵗ)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Microsoft YaHe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Microsoft YaHei"/>
              </a:defRPr>
            </a:pPr>
            <a:r>
              <a:t>02  数据集：ETH / UCY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25400"/>
          </a:xfrm>
          <a:prstGeom prst="rect">
            <a:avLst/>
          </a:prstGeom>
          <a:solidFill>
            <a:srgbClr val="256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▎5 个场景统计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822960" cy="320040"/>
          </a:xfrm>
          <a:prstGeom prst="roundRect">
            <a:avLst/>
          </a:prstGeom>
          <a:solidFill>
            <a:srgbClr val="256DEB"/>
          </a:solidFill>
          <a:ln w="6350">
            <a:solidFill>
              <a:srgbClr val="256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场景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54480" y="1463040"/>
            <a:ext cx="1920240" cy="320040"/>
          </a:xfrm>
          <a:prstGeom prst="roundRect">
            <a:avLst/>
          </a:prstGeom>
          <a:solidFill>
            <a:srgbClr val="256DEB"/>
          </a:solidFill>
          <a:ln w="6350">
            <a:solidFill>
              <a:srgbClr val="256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文件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463040"/>
            <a:ext cx="731520" cy="320040"/>
          </a:xfrm>
          <a:prstGeom prst="roundRect">
            <a:avLst/>
          </a:prstGeom>
          <a:solidFill>
            <a:srgbClr val="256DEB"/>
          </a:solidFill>
          <a:ln w="6350">
            <a:solidFill>
              <a:srgbClr val="256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行人数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463040"/>
            <a:ext cx="640080" cy="320040"/>
          </a:xfrm>
          <a:prstGeom prst="roundRect">
            <a:avLst/>
          </a:prstGeom>
          <a:solidFill>
            <a:srgbClr val="256DEB"/>
          </a:solidFill>
          <a:ln w="6350">
            <a:solidFill>
              <a:srgbClr val="256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帧数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1463040"/>
            <a:ext cx="1463040" cy="320040"/>
          </a:xfrm>
          <a:prstGeom prst="roundRect">
            <a:avLst/>
          </a:prstGeom>
          <a:solidFill>
            <a:srgbClr val="256DEB"/>
          </a:solidFill>
          <a:ln w="6350">
            <a:solidFill>
              <a:srgbClr val="256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帧范围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63040"/>
            <a:ext cx="1097280" cy="320040"/>
          </a:xfrm>
          <a:prstGeom prst="roundRect">
            <a:avLst/>
          </a:prstGeom>
          <a:solidFill>
            <a:srgbClr val="256DEB"/>
          </a:solidFill>
          <a:ln w="6350">
            <a:solidFill>
              <a:srgbClr val="256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密度(人/帧)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1463040"/>
            <a:ext cx="914400" cy="320040"/>
          </a:xfrm>
          <a:prstGeom prst="roundRect">
            <a:avLst/>
          </a:prstGeom>
          <a:solidFill>
            <a:srgbClr val="256DEB"/>
          </a:solidFill>
          <a:ln w="6350">
            <a:solidFill>
              <a:srgbClr val="256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场景类型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783080"/>
            <a:ext cx="822960" cy="292608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ETH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54480" y="1783080"/>
            <a:ext cx="1920240" cy="292608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biwi_eth.txt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1783080"/>
            <a:ext cx="731520" cy="292608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360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1783080"/>
            <a:ext cx="640080" cy="292608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876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6320" y="1783080"/>
            <a:ext cx="1463040" cy="292608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780-12,380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783080"/>
            <a:ext cx="1097280" cy="292608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6.3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1783080"/>
            <a:ext cx="914400" cy="292608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街道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075688"/>
            <a:ext cx="822960" cy="29260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Hotel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54480" y="2075688"/>
            <a:ext cx="1920240" cy="29260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biwi_hotel.txt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74720" y="2075688"/>
            <a:ext cx="731520" cy="29260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389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6240" y="2075688"/>
            <a:ext cx="640080" cy="29260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1,168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46320" y="2075688"/>
            <a:ext cx="1463040" cy="29260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0-18,060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2075688"/>
            <a:ext cx="1097280" cy="29260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5.6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06640" y="2075688"/>
            <a:ext cx="914400" cy="29260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酒店大堂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2368296"/>
            <a:ext cx="822960" cy="292608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DC2626"/>
                </a:solidFill>
              </a:defRPr>
            </a:pPr>
            <a:r>
              <a:t>Univ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554480" y="2368296"/>
            <a:ext cx="1920240" cy="292608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DC2626"/>
                </a:solidFill>
              </a:defRPr>
            </a:pPr>
            <a:r>
              <a:t>students001/003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74720" y="2368296"/>
            <a:ext cx="731520" cy="292608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DC2626"/>
                </a:solidFill>
              </a:defRPr>
            </a:pPr>
            <a:r>
              <a:t>415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06240" y="2368296"/>
            <a:ext cx="640080" cy="292608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DC2626"/>
                </a:solidFill>
              </a:defRPr>
            </a:pPr>
            <a:r>
              <a:t>444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46320" y="2368296"/>
            <a:ext cx="1463040" cy="292608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DC2626"/>
                </a:solidFill>
              </a:defRPr>
            </a:pPr>
            <a:r>
              <a:t>0-4,430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2368296"/>
            <a:ext cx="1097280" cy="292608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DC2626"/>
                </a:solidFill>
              </a:defRPr>
            </a:pPr>
            <a:r>
              <a:t>49.1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06640" y="2368296"/>
            <a:ext cx="914400" cy="292608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DC2626"/>
                </a:solidFill>
              </a:defRPr>
            </a:pPr>
            <a:r>
              <a:t>校园广场 ★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2660904"/>
            <a:ext cx="822960" cy="29260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Zara1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554480" y="2660904"/>
            <a:ext cx="1920240" cy="29260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crowds_zara01.txt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74720" y="2660904"/>
            <a:ext cx="731520" cy="29260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148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06240" y="2660904"/>
            <a:ext cx="640080" cy="29260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872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846320" y="2660904"/>
            <a:ext cx="1463040" cy="29260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0-9,010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60" y="2660904"/>
            <a:ext cx="1097280" cy="29260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5.9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06640" y="2660904"/>
            <a:ext cx="914400" cy="29260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商业街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2953512"/>
            <a:ext cx="822960" cy="292608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Zara2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554480" y="2953512"/>
            <a:ext cx="1920240" cy="292608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crowds_zara02.txt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74720" y="2953512"/>
            <a:ext cx="731520" cy="292608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204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06240" y="2953512"/>
            <a:ext cx="640080" cy="292608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1,052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846320" y="2953512"/>
            <a:ext cx="1463040" cy="292608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10-10,520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09360" y="2953512"/>
            <a:ext cx="1097280" cy="292608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9.2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406640" y="2953512"/>
            <a:ext cx="914400" cy="292608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商业街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3383280"/>
            <a:ext cx="5303520" cy="1645920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4400" y="3474720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DEB"/>
                </a:solidFill>
                <a:latin typeface="Microsoft YaHei"/>
              </a:defRPr>
            </a:pPr>
            <a:r>
              <a:t>256DEB 数据格式与预处理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3794760"/>
            <a:ext cx="493775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44"/>
                </a:solidFill>
                <a:latin typeface="Microsoft YaHei"/>
              </a:defRPr>
            </a:pPr>
            <a:r>
              <a:t>  文件格式: frame_id  ped_id  x  y   (Tab分隔, 无表头)</a:t>
            </a:r>
            <a:br/>
            <a:r>
              <a:t>  示例:  780.0  1.0  8.46  3.59</a:t>
            </a:r>
            <a:br/>
            <a:r>
              <a:t>  帧间隔: Δframe = 10 (25fps原视频 → 2.5fps采样)</a:t>
            </a:r>
            <a:br/>
            <a:r>
              <a:t>  0.4 秒/帧 × 8 帧 = 3.2 秒观测    |    0.4 秒/帧 × 12 帧 = 4.8 秒预测</a:t>
            </a:r>
            <a:br/>
            <a:r>
              <a:t>  归一化策略: 每条轨迹以最后一帧观测位置为原点 (标准做法)</a:t>
            </a:r>
            <a:br/>
            <a:r>
              <a:t>  origin = obs[:,-1,:]; obs_norm = obs - origin; pred_norm = pred - origin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00800" y="3383280"/>
            <a:ext cx="5303520" cy="1645920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83680" y="3474720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DEB"/>
                </a:solidFill>
                <a:latin typeface="Microsoft YaHei"/>
              </a:defRPr>
            </a:pPr>
            <a:r>
              <a:t>059669 评估协议 (Leave-One-Out)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0" y="3794760"/>
            <a:ext cx="493775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44"/>
                </a:solidFill>
                <a:latin typeface="Microsoft YaHei"/>
              </a:defRPr>
            </a:pPr>
            <a:r>
              <a:t>  标准做法: 4 个场景训练 → 第 5 个场景测试 → 轮换 5 次取平均</a:t>
            </a:r>
            <a:br/>
            <a:r>
              <a:t>  ADE (Average Displacement Error): 12 帧预测与真值的平均L2距离</a:t>
            </a:r>
            <a:br/>
            <a:r>
              <a:t>    ADE = (1/N) Σᵢ (1/12) Σₜ ||p̂ᵢᵗ − pᵢᵗ||₂</a:t>
            </a:r>
            <a:br/>
            <a:r>
              <a:t>  FDE (Final Displacement Error): 仅最后一帧的L2距离</a:t>
            </a:r>
            <a:br/>
            <a:r>
              <a:t>    FDE = (1/N) Σᵢ ||p̂ᵢᵗ¹² − pᵢᵗ¹²||₂</a:t>
            </a:r>
            <a:br/>
            <a:r>
              <a:t>  训练/验证/测试严格按时间划分: 前80%训练 + 后20%验证 + 独立测试集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" y="5486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Microsoft YaHei"/>
              </a:defRPr>
            </a:pPr>
            <a:r>
              <a:t>▸ 数据来源: Social-STGCNN 仓库 (github.com/abduallahmohamed/Social-STGCNN) — 基于 ETH 和 UCY 原始数据重新划分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Microsoft YaHe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Microsoft YaHei"/>
              </a:defRPr>
            </a:pPr>
            <a:r>
              <a:t>03  数据预处理管道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25400"/>
          </a:xfrm>
          <a:prstGeom prst="rect">
            <a:avLst/>
          </a:prstGeom>
          <a:solidFill>
            <a:srgbClr val="256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1920240" cy="502920"/>
          </a:xfrm>
          <a:prstGeom prst="roundRect">
            <a:avLst/>
          </a:prstGeom>
          <a:solidFill>
            <a:srgbClr val="F5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  <a:latin typeface="Microsoft YaHei"/>
              </a:defRPr>
            </a:pPr>
            <a:r>
              <a:t>原始文件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44"/>
                </a:solidFill>
                <a:latin typeface="Microsoft YaHei"/>
              </a:defRPr>
            </a:pPr>
            <a:r>
              <a:t>.txt 文件</a:t>
            </a:r>
            <a:br/>
            <a:r>
              <a:t>frame ped x y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560320" y="1417320"/>
            <a:ext cx="228600" cy="182880"/>
          </a:xfrm>
          <a:prstGeom prst="rightArrow">
            <a:avLst/>
          </a:prstGeom>
          <a:solidFill>
            <a:srgbClr val="256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80360" y="1280160"/>
            <a:ext cx="1920240" cy="50292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  <a:latin typeface="Microsoft YaHei"/>
              </a:defRPr>
            </a:pPr>
            <a:r>
              <a:t>load_scene_data()</a:t>
            </a:r>
            <a:br/>
            <a:r>
              <a:t>按帧分组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1874519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44"/>
                </a:solidFill>
                <a:latin typeface="Microsoft YaHei"/>
              </a:defRPr>
            </a:pPr>
            <a:r>
              <a:t>frames[frame_id]</a:t>
            </a:r>
            <a:br/>
            <a:r>
              <a:t>= {ped: (x,y)}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892040" y="1417320"/>
            <a:ext cx="228600" cy="182880"/>
          </a:xfrm>
          <a:prstGeom prst="rightArrow">
            <a:avLst/>
          </a:prstGeom>
          <a:solidFill>
            <a:srgbClr val="256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212079" y="1280160"/>
            <a:ext cx="1920240" cy="50292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  <a:latin typeface="Microsoft YaHei"/>
              </a:defRPr>
            </a:pPr>
            <a:r>
              <a:t>extract_scene_windows()</a:t>
            </a:r>
            <a:br/>
            <a:r>
              <a:t>滑动窗口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9" y="1874519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44"/>
                </a:solidFill>
                <a:latin typeface="Microsoft YaHei"/>
              </a:defRPr>
            </a:pPr>
            <a:r>
              <a:t>obs (P,8,2)</a:t>
            </a:r>
            <a:br/>
            <a:r>
              <a:t>pred (P,12,2)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223759" y="1417320"/>
            <a:ext cx="228600" cy="182880"/>
          </a:xfrm>
          <a:prstGeom prst="rightArrow">
            <a:avLst/>
          </a:prstGeom>
          <a:solidFill>
            <a:srgbClr val="256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43800" y="1280160"/>
            <a:ext cx="1920240" cy="50292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A1A2E"/>
                </a:solidFill>
                <a:latin typeface="Microsoft YaHei"/>
              </a:defRPr>
            </a:pPr>
            <a:r>
              <a:t>normalize_scene_window()</a:t>
            </a:r>
            <a:br/>
            <a:r>
              <a:t>轨迹归一化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1874519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44"/>
                </a:solidFill>
                <a:latin typeface="Microsoft YaHei"/>
              </a:defRPr>
            </a:pPr>
            <a:r>
              <a:t>最后观测点</a:t>
            </a:r>
            <a:br/>
            <a:r>
              <a:t>→ 原点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555480" y="1417320"/>
            <a:ext cx="228600" cy="182880"/>
          </a:xfrm>
          <a:prstGeom prst="rightArrow">
            <a:avLst/>
          </a:prstGeom>
          <a:solidFill>
            <a:srgbClr val="256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875519" y="1280160"/>
            <a:ext cx="1920240" cy="502920"/>
          </a:xfrm>
          <a:prstGeom prst="roundRect">
            <a:avLst/>
          </a:prstGeom>
          <a:solidFill>
            <a:srgbClr val="256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打包批处理</a:t>
            </a:r>
            <a:br/>
            <a:r>
              <a:t>pack_scenes()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19" y="1874519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44"/>
                </a:solidFill>
                <a:latin typeface="Microsoft YaHei"/>
              </a:defRPr>
            </a:pPr>
            <a:r>
              <a:t>6个场景→1批</a:t>
            </a:r>
            <a:br/>
            <a:r>
              <a:t>(total_P, 8, 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9260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▎关键设计决策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200400"/>
            <a:ext cx="3474720" cy="1828800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2918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DEB"/>
                </a:solidFill>
                <a:latin typeface="Microsoft YaHei"/>
              </a:defRPr>
            </a:pPr>
            <a:r>
              <a:t>DC2626 为什么按帧分组而不是按行人？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611880"/>
            <a:ext cx="3108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44"/>
                </a:solidFill>
                <a:latin typeface="Microsoft YaHei"/>
              </a:defRPr>
            </a:pPr>
            <a:r>
              <a:t>  SimpleLSTM 做法: 每条行人独立滑动窗口 → 丢失场景上下文</a:t>
            </a:r>
            <a:br/>
            <a:r>
              <a:t>  Social-LSTM 做法: 同一帧的所有行人组成一个场景 → 保留社交交互</a:t>
            </a:r>
            <a:br/>
            <a:r>
              <a:t>  场景窗口: 找到连续 20 帧内所有共存行人 → P 个行人一起预测</a:t>
            </a:r>
            <a:br/>
            <a:r>
              <a:t>  P 从 1 (稀疏) 到 57 (拥挤) → 自然反映真实场景密度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3200400"/>
            <a:ext cx="3474720" cy="1828800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32918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DEB"/>
                </a:solidFill>
                <a:latin typeface="Microsoft YaHei"/>
              </a:defRPr>
            </a:pPr>
            <a:r>
              <a:t>256DEB 归一化策略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3611880"/>
            <a:ext cx="3108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44"/>
                </a:solidFill>
                <a:latin typeface="Microsoft YaHei"/>
              </a:defRPr>
            </a:pPr>
            <a:r>
              <a:t>  标准做法: 以每个行人最后一帧观测位置为原点</a:t>
            </a:r>
            <a:br/>
            <a:r>
              <a:t>  origin = obs[i, -1, :]  # (1, 2)</a:t>
            </a:r>
            <a:br/>
            <a:r>
              <a:t>  obs_norm[i] = obs[i] - origin</a:t>
            </a:r>
            <a:br/>
            <a:r>
              <a:t>  pred_norm[i] = pred[i] - origin</a:t>
            </a:r>
            <a:br/>
            <a:r>
              <a:t>  优点: 模型学习相对位移，而非绝对坐标</a:t>
            </a:r>
            <a:br/>
            <a:r>
              <a:t>    不同场景的坐标范围差异很大 (数十米) → 归一化后统一尺度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0" y="3200400"/>
            <a:ext cx="3200400" cy="1828800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59" y="32918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DEB"/>
                </a:solidFill>
                <a:latin typeface="Microsoft YaHei"/>
              </a:defRPr>
            </a:pPr>
            <a:r>
              <a:t>D97706 stride 参数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59" y="3611880"/>
            <a:ext cx="28346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44"/>
                </a:solidFill>
                <a:latin typeface="Microsoft YaHei"/>
              </a:defRPr>
            </a:pPr>
            <a:r>
              <a:t>  stride=1: 每帧都取窗口 (21,000+ 窗口) — 最全但慢</a:t>
            </a:r>
            <a:br/>
            <a:r>
              <a:t>  stride=2: 隔帧采样 (10,600 窗口) — 推荐</a:t>
            </a:r>
            <a:br/>
            <a:r>
              <a:t>  stride=4: 1/4 数据 (5,300 窗口) — 快速验证</a:t>
            </a:r>
            <a:br/>
            <a:r>
              <a:t>  stride=8: 1/8 数据 (2,668 窗口) — 试水</a:t>
            </a:r>
            <a:br/>
            <a:r>
              <a:t>  相邻窗口 95% 数据重叠 → stride=2 性价比最高</a:t>
            </a:r>
            <a:br/>
            <a:r>
              <a:t>  当前选择: stride=1 (全量)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Microsoft YaHe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Microsoft YaHei"/>
              </a:defRPr>
            </a:pPr>
            <a:r>
              <a:t>04  模型架构：Social-LSTM (上)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25400"/>
          </a:xfrm>
          <a:prstGeom prst="rect">
            <a:avLst/>
          </a:prstGeom>
          <a:solidFill>
            <a:srgbClr val="256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▎整体架构：编码器-解码器 + 社交池化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828800" cy="548640"/>
          </a:xfrm>
          <a:prstGeom prst="roundRect">
            <a:avLst/>
          </a:prstGeom>
          <a:solidFill>
            <a:srgbClr val="F5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  <a:latin typeface="Microsoft YaHei"/>
              </a:defRPr>
            </a:pPr>
            <a:r>
              <a:t>输入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44"/>
                </a:solidFill>
                <a:latin typeface="Microsoft YaHei"/>
              </a:defRPr>
            </a:pPr>
            <a:r>
              <a:t>Obs</a:t>
            </a:r>
            <a:br/>
            <a:r>
              <a:t>(P, 8, 2)</a:t>
            </a:r>
            <a:br/>
            <a:r>
              <a:t>所有行人</a:t>
            </a:r>
            <a:br/>
            <a:r>
              <a:t>8帧位置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51760" y="1645920"/>
            <a:ext cx="274320" cy="182880"/>
          </a:xfrm>
          <a:prstGeom prst="rightArrow">
            <a:avLst/>
          </a:prstGeom>
          <a:solidFill>
            <a:srgbClr val="256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11880" y="1463040"/>
            <a:ext cx="1828800" cy="54864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  <a:latin typeface="Microsoft YaHei"/>
              </a:defRPr>
            </a:pPr>
            <a:r>
              <a:t>Position</a:t>
            </a:r>
            <a:br/>
            <a:r>
              <a:t>Embedding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1031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44"/>
                </a:solidFill>
                <a:latin typeface="Microsoft YaHei"/>
              </a:defRPr>
            </a:pPr>
            <a:r>
              <a:t>Linear(2→64)</a:t>
            </a:r>
            <a:br/>
            <a:r>
              <a:t>+ ReLU</a:t>
            </a:r>
            <a:br/>
            <a:r>
              <a:t>(P, 64)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532120" y="1645920"/>
            <a:ext cx="274320" cy="182880"/>
          </a:xfrm>
          <a:prstGeom prst="rightArrow">
            <a:avLst/>
          </a:prstGeom>
          <a:solidFill>
            <a:srgbClr val="256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92240" y="1463040"/>
            <a:ext cx="1828800" cy="54864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  <a:latin typeface="Microsoft YaHei"/>
              </a:defRPr>
            </a:pPr>
            <a:r>
              <a:t>Social</a:t>
            </a:r>
            <a:br/>
            <a:r>
              <a:t>Pooling 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031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44"/>
                </a:solidFill>
                <a:latin typeface="Microsoft YaHei"/>
              </a:defRPr>
            </a:pPr>
            <a:r>
              <a:t>4×4 空间网格</a:t>
            </a:r>
            <a:br/>
            <a:r>
              <a:t>邻居h求和</a:t>
            </a:r>
            <a:br/>
            <a:r>
              <a:t>(P, 4,4,128)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412480" y="1645920"/>
            <a:ext cx="274320" cy="182880"/>
          </a:xfrm>
          <a:prstGeom prst="rightArrow">
            <a:avLst/>
          </a:prstGeom>
          <a:solidFill>
            <a:srgbClr val="256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372600" y="1463040"/>
            <a:ext cx="1828800" cy="54864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1A2E"/>
                </a:solidFill>
                <a:latin typeface="Microsoft YaHei"/>
              </a:defRPr>
            </a:pPr>
            <a:r>
              <a:t>LSTMCell</a:t>
            </a:r>
            <a:br/>
            <a:r>
              <a:t>(128→128)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21031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333344"/>
                </a:solidFill>
                <a:latin typeface="Microsoft YaHei"/>
              </a:defRPr>
            </a:pPr>
            <a:r>
              <a:t>输入128维</a:t>
            </a:r>
            <a:br/>
            <a:r>
              <a:t>=pos(64)+social(64)</a:t>
            </a:r>
            <a:br/>
            <a:r>
              <a:t>逐时间步迭代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2004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C2626"/>
                </a:solidFill>
                <a:latin typeface="Microsoft YaHei"/>
              </a:defRPr>
            </a:pPr>
            <a:r>
              <a:t>▎核心创新：社交池化网格 (Social Pooling Grid)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566160"/>
            <a:ext cx="5486400" cy="2926080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6576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DEB"/>
                </a:solidFill>
                <a:latin typeface="Microsoft YaHei"/>
              </a:defRPr>
            </a:pPr>
            <a:r>
              <a:t>DC2626 网格构建过程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977639"/>
            <a:ext cx="51206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44"/>
                </a:solidFill>
                <a:latin typeface="Microsoft YaHei"/>
              </a:defRPr>
            </a:pPr>
            <a:r>
              <a:t>  1. 以目标行人 i 当前位置为中心</a:t>
            </a:r>
            <a:br/>
            <a:r>
              <a:t>  2. 建立 32×32 (米/像素) 的方形邻域窗口</a:t>
            </a:r>
            <a:br/>
            <a:r>
              <a:t>  3. 将邻域划分为 4×4 = 16 个网格单元 (每单元 8×8)</a:t>
            </a:r>
            <a:br/>
            <a:r>
              <a:t>  4. 对每个邻居 j：</a:t>
            </a:r>
            <a:br/>
            <a:r>
              <a:t>      a. 计算相对位置: (dx, dy) = (xⱼ−xᵢ, yⱼ−yᵢ)</a:t>
            </a:r>
            <a:br/>
            <a:r>
              <a:t>      b. 检查是否在邻域内: |dx|&lt;16 且 |dy|&lt;16</a:t>
            </a:r>
            <a:br/>
            <a:r>
              <a:t>      c. 映射到网格单元: cell_x = ⌊(dx+16)/32×4⌋, cell_y = ⌊(dy+16)/32×4⌋</a:t>
            </a:r>
            <a:br/>
            <a:r>
              <a:t>  5. 对每个网格单元 (m, n)，求和落入该单元的所有邻居隐藏状态:</a:t>
            </a:r>
            <a:br/>
            <a:r>
              <a:t>      Hᵢ(m, n) = Σⱼ₌₁ᴺ 1_{mn}(xⱼ−xᵢ, yⱼ−yᵢ) · hⱼ</a:t>
            </a:r>
            <a:br/>
            <a:r>
              <a:t>  6. 展平 → 社交嵌入: Linear(4×4×128=2048 → 64)</a:t>
            </a:r>
            <a:br/>
            <a:r>
              <a:t>  </a:t>
            </a:r>
            <a:br/>
            <a:r>
              <a:t>  ★ 关键特性: 每时间步重新计算池化 (行人动态移动)  |  多邻居同单元→求和  |  空单元→零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3566160"/>
            <a:ext cx="5120640" cy="2926080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3657600"/>
            <a:ext cx="4754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DEB"/>
                </a:solidFill>
                <a:latin typeface="Microsoft YaHei"/>
              </a:defRPr>
            </a:pPr>
            <a:r>
              <a:t>256DEB 为什么用网格池化？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977639"/>
            <a:ext cx="4754879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44"/>
                </a:solidFill>
                <a:latin typeface="Microsoft YaHei"/>
              </a:defRPr>
            </a:pPr>
            <a:r>
              <a:t>  ▸ 空间局部性: 只有近邻 (32 单位内) 才相互影响</a:t>
            </a:r>
            <a:br/>
            <a:r>
              <a:t>    远处行人的行为通常无关</a:t>
            </a:r>
            <a:br/>
            <a:r>
              <a:t>  </a:t>
            </a:r>
            <a:br/>
            <a:r>
              <a:t>  ▸ 排列不变性: 网格对邻居的排列不敏感</a:t>
            </a:r>
            <a:br/>
            <a:r>
              <a:t>    网格(2,3)有2个邻居 → 求和 → 同样的结果</a:t>
            </a:r>
            <a:br/>
            <a:r>
              <a:t>    无论输入顺序如何，池化结果一致</a:t>
            </a:r>
            <a:br/>
            <a:r>
              <a:t>  </a:t>
            </a:r>
            <a:br/>
            <a:r>
              <a:t>  ▸ 计算高效: P 个行人 → O(P²) 对 → 16个matmul</a:t>
            </a:r>
            <a:br/>
            <a:r>
              <a:t>    P=75 时仅需 ~0.5ms (CPU)</a:t>
            </a:r>
            <a:br/>
            <a:r>
              <a:t>  </a:t>
            </a:r>
            <a:br/>
            <a:r>
              <a:t>  ▸ 无需手动特征工程: 模型自动学习</a:t>
            </a:r>
            <a:br/>
            <a:r>
              <a:t>    哪些邻居重要、空间关系如何影响交互</a:t>
            </a:r>
            <a:br/>
            <a:r>
              <a:t>  </a:t>
            </a:r>
            <a:br/>
            <a:r>
              <a:t>  场景隔离: 打包训练时，不同场景行人之间互不交互</a:t>
            </a:r>
            <a:br/>
            <a:r>
              <a:t>  scene_ids[i]==scene_ids[j] → 才能进入同一网格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Microsoft YaHe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Microsoft YaHei"/>
              </a:defRPr>
            </a:pPr>
            <a:r>
              <a:t>04  模型架构：Social-LSTM (下)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25400"/>
          </a:xfrm>
          <a:prstGeom prst="rect">
            <a:avLst/>
          </a:prstGeom>
          <a:solidFill>
            <a:srgbClr val="256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▎逐时间步 LSTM 计算流程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303520" cy="2286000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DEB"/>
                </a:solidFill>
                <a:latin typeface="Microsoft YaHei"/>
              </a:defRPr>
            </a:pPr>
            <a:r>
              <a:t>256DEB 编码阶段 (Observation Encoding)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4937759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44"/>
                </a:solidFill>
                <a:latin typeface="Microsoft YaHei"/>
              </a:defRPr>
            </a:pPr>
            <a:r>
              <a:t>  时间步 t = 0, 1, 2, ..., 7   (共 8 步)</a:t>
            </a:r>
            <a:br/>
            <a:r>
              <a:t>  ─── 每个时间步 ───</a:t>
            </a:r>
            <a:br/>
            <a:r>
              <a:t>  ① pos_t = obs[:, t, :]                         # 当前帧所有行人位置 (P, 2)</a:t>
            </a:r>
            <a:br/>
            <a:r>
              <a:t>  ② pos_emb = ReLU(Linear(pos_t))                # 位置嵌入 (P, 64)</a:t>
            </a:r>
            <a:br/>
            <a:r>
              <a:t>  ③ pooled = SocialPool(pos_t, h_{t-1})           # 社交池化 (P, 4, 4, 128)</a:t>
            </a:r>
            <a:br/>
            <a:r>
              <a:t>      (t=0 时 h 全零 → 池化结果全零 → 第1帧无社交信息)</a:t>
            </a:r>
            <a:br/>
            <a:r>
              <a:t>  ④ pooled_flat = pooled.view(P, -1)              # 展平 (P, 2048)</a:t>
            </a:r>
            <a:br/>
            <a:r>
              <a:t>  ⑤ social_emb = ReLU(Linear(pooled_flat))        # 社交嵌入 (P, 64)</a:t>
            </a:r>
            <a:br/>
            <a:r>
              <a:t>  ⑥ lstm_input = cat[pos_emb, social_emb]         # 拼接 (P, 128)</a:t>
            </a:r>
            <a:br/>
            <a:r>
              <a:t>  ⑦ h_t, c_t = LSTMCell(lstm_input, (h_{t-1}, c_{t-1}))  # 更新隐藏状态</a:t>
            </a:r>
            <a:br/>
            <a:r>
              <a:t>  ─── 编码结束 → h_7, c_7 包含 8 帧时空信息 ───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63040"/>
            <a:ext cx="5303520" cy="2286000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DEB"/>
                </a:solidFill>
                <a:latin typeface="Microsoft YaHei"/>
              </a:defRPr>
            </a:pPr>
            <a:r>
              <a:t>059669 解码阶段 (Autoregressive Decoding)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874520"/>
            <a:ext cx="4937759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44"/>
                </a:solidFill>
                <a:latin typeface="Microsoft YaHei"/>
              </a:defRPr>
            </a:pPr>
            <a:r>
              <a:t>  时间步 t = 8, 9, ..., 19  (共 12 步)</a:t>
            </a:r>
            <a:br/>
            <a:r>
              <a:t>  ─── 每个时间步 ───</a:t>
            </a:r>
            <a:br/>
            <a:r>
              <a:t>  ① current_pos = current_pos + displacement       # 从预测位置出发</a:t>
            </a:r>
            <a:br/>
            <a:r>
              <a:t>     (第 8 步: current_pos = obs[:,-1,:] 即最后一帧观测位置)</a:t>
            </a:r>
            <a:br/>
            <a:r>
              <a:t>  ② pos_emb = ReLU(Linear(current_pos))            # (P, 64)</a:t>
            </a:r>
            <a:br/>
            <a:r>
              <a:t>  ③ pooled = SocialPool(current_pos, h_{t-1})       # 用预测位置做社交池化</a:t>
            </a:r>
            <a:br/>
            <a:r>
              <a:t>  ④ social_emb = ReLU(Linear(pooled_flat))          # (P, 64)</a:t>
            </a:r>
            <a:br/>
            <a:r>
              <a:t>  ⑤ lstm_input = cat[pos_emb, social_emb]            # (P, 128)</a:t>
            </a:r>
            <a:br/>
            <a:r>
              <a:t>  ⑥ h_t, c_t = LSTMCell(lstm_input, (h_{t-1}, c_{t-1}))</a:t>
            </a:r>
            <a:br/>
            <a:r>
              <a:t>  ⑦ displacement = Linear(h_t)                      # 预测位移 (P, 2)</a:t>
            </a:r>
            <a:br/>
            <a:r>
              <a:t>  ⑧ current_pos += displacement                     # 更新位置 → 下一步输入</a:t>
            </a:r>
            <a:br/>
            <a:r>
              <a:t>  ─── 堆叠 12 个 displacement → (P, 12, 2) 输出 ───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▎为什么用 LSTMCell 而不是 nn.LSTM？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89120"/>
            <a:ext cx="5303520" cy="1371600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480559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DEB"/>
                </a:solidFill>
                <a:latin typeface="Microsoft YaHei"/>
              </a:defRPr>
            </a:pPr>
            <a:r>
              <a:t>DC2626 nn.LSTM (batch_first=True)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00600"/>
            <a:ext cx="49377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44"/>
                </a:solidFill>
                <a:latin typeface="Microsoft YaHei"/>
              </a:defRPr>
            </a:pPr>
            <a:r>
              <a:t>  一次前向处理全部 8 帧 → 只得到最终隐藏状态</a:t>
            </a:r>
            <a:br/>
            <a:r>
              <a:t>  无法在中间时间步插入社交池化</a:t>
            </a:r>
            <a:br/>
            <a:r>
              <a:t>  SimpleLSTM 使用此方式 → 无社交交互 → 每条轨迹独立预测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389120"/>
            <a:ext cx="5303520" cy="1371600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4480559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DEB"/>
                </a:solidFill>
                <a:latin typeface="Microsoft YaHei"/>
              </a:defRPr>
            </a:pPr>
            <a:r>
              <a:t>059669 nn.LSTMCell (逐时间步手动迭代)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800600"/>
            <a:ext cx="49377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44"/>
                </a:solidFill>
                <a:latin typeface="Microsoft YaHei"/>
              </a:defRPr>
            </a:pPr>
            <a:r>
              <a:t>  每个时间步手动调用 → 可以在步间插入社交池化</a:t>
            </a:r>
            <a:br/>
            <a:r>
              <a:t>  第 t 步的社交池化需要第 t-1 步的隐藏状态 h_{t-1}</a:t>
            </a:r>
            <a:br/>
            <a:r>
              <a:t>  完全控制数据流 → 编码-解码可无缝衔接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126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Microsoft YaHei"/>
              </a:defRPr>
            </a:pPr>
            <a:r>
              <a:t>参数量统计: PosEmbed(2→64) + SocialEmbed(2048→64) + LSTMCell(128→128) + Output(128→2) = 263,682 参数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Microsoft YaHe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Microsoft YaHei"/>
              </a:defRPr>
            </a:pPr>
            <a:r>
              <a:t>05  训练策略与加速优化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25400"/>
          </a:xfrm>
          <a:prstGeom prst="rect">
            <a:avLst/>
          </a:prstGeom>
          <a:solidFill>
            <a:srgbClr val="256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C2626"/>
                </a:solidFill>
                <a:latin typeface="Microsoft YaHei"/>
              </a:defRPr>
            </a:pPr>
            <a:r>
              <a:t>▎核心瓶颈：为什么 CPU 利用率只有 50%？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303520" cy="1463040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DEB"/>
                </a:solidFill>
                <a:latin typeface="Microsoft YaHei"/>
              </a:defRPr>
            </a:pPr>
            <a:r>
              <a:t>DC2626 问题诊断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493775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44"/>
                </a:solidFill>
                <a:latin typeface="Microsoft YaHei"/>
              </a:defRPr>
            </a:pPr>
            <a:r>
              <a:t>  逐场景训练: 每次只处理一个场景 → 平均只有 8.7 个行人</a:t>
            </a:r>
            <a:br/>
            <a:r>
              <a:t>  矩阵运算: 8.7 × 128 → 太小, 无法充分利用 8 核 CPU</a:t>
            </a:r>
            <a:br/>
            <a:r>
              <a:t>  LSTMCell 20 个时间步 → 串行执行, 无法并行</a:t>
            </a:r>
            <a:br/>
            <a:r>
              <a:t>  结果: CPU 8个核心中只有 3-4 个在工作 → 利用率 ~50%</a:t>
            </a:r>
            <a:br/>
            <a:r>
              <a:t>  20 步 LSTMCell 中每步都做 16 次池化 matmul → 160 次小矩阵乘法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63040"/>
            <a:ext cx="5303520" cy="1463040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DEB"/>
                </a:solidFill>
                <a:latin typeface="Microsoft YaHei"/>
              </a:defRPr>
            </a:pPr>
            <a:r>
              <a:t>256DEB 解决方案：场景打包批处理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874520"/>
            <a:ext cx="493775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44"/>
                </a:solidFill>
                <a:latin typeface="Microsoft YaHei"/>
              </a:defRPr>
            </a:pPr>
            <a:r>
              <a:t>  将 6 个场景拼成一批: 8.7人 × 6 = 52 人/批</a:t>
            </a:r>
            <a:br/>
            <a:r>
              <a:t>  矩阵运算: 52 × 128 → 增大 6 倍, CPU 核心利用率大幅提升</a:t>
            </a:r>
            <a:br/>
            <a:r>
              <a:t>  引入 scene_ids 参数: 确保不同场景行人之间互不交互</a:t>
            </a:r>
            <a:br/>
            <a:r>
              <a:t>  same_scene = (scene_ids[i] == scene_ids[j]) → 掩码过滤</a:t>
            </a:r>
            <a:br/>
            <a:r>
              <a:t>  验证: 打包推理结果与逐场景完全一致 (差异 &lt; 1e-7)</a:t>
            </a:r>
            <a:br/>
            <a:r>
              <a:t>  效果: 3.4x 加速 (200 场景: 3.5s → 1.0s)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▎完整训练配置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661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DEB"/>
                </a:solidFill>
                <a:latin typeface="Microsoft YaHei"/>
              </a:defRPr>
            </a:pPr>
            <a:r>
              <a:t>损失函数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566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Microsoft YaHei"/>
              </a:defRPr>
            </a:pPr>
            <a:r>
              <a:t>MSE Loss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56616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Microsoft YaHei"/>
              </a:defRPr>
            </a:pPr>
            <a:r>
              <a:t>L = (1/N) Σ (ŷ − y)² , 在归一化坐标下计算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1363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DEB"/>
                </a:solidFill>
                <a:latin typeface="Microsoft YaHei"/>
              </a:defRPr>
            </a:pPr>
            <a:r>
              <a:t>优化器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9136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Microsoft YaHei"/>
              </a:defRPr>
            </a:pPr>
            <a:r>
              <a:t>Adam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91363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Microsoft YaHei"/>
              </a:defRPr>
            </a:pPr>
            <a:r>
              <a:t>lr=0.001, 默认 β=(0.9, 0.999)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6110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DEB"/>
                </a:solidFill>
                <a:latin typeface="Microsoft YaHei"/>
              </a:defRPr>
            </a:pPr>
            <a:r>
              <a:t>学习率调度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426110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Microsoft YaHei"/>
              </a:defRPr>
            </a:pPr>
            <a:r>
              <a:t>ReduceLROnPlateau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4261104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Microsoft YaHei"/>
              </a:defRPr>
            </a:pPr>
            <a:r>
              <a:t>mode=min, factor=0.5, patience=10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60857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DEB"/>
                </a:solidFill>
                <a:latin typeface="Microsoft YaHei"/>
              </a:defRPr>
            </a:pPr>
            <a:r>
              <a:t>梯度管理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460857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Microsoft YaHei"/>
              </a:defRPr>
            </a:pPr>
            <a:r>
              <a:t>ClipGradNorm(max_norm=1.0)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4608576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Microsoft YaHei"/>
              </a:defRPr>
            </a:pPr>
            <a:r>
              <a:t>防止 LSTMCell 20步回传梯度爆炸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95604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DEB"/>
                </a:solidFill>
                <a:latin typeface="Microsoft YaHei"/>
              </a:defRPr>
            </a:pPr>
            <a:r>
              <a:t>累积步数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49560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Microsoft YaHei"/>
              </a:defRPr>
            </a:pPr>
            <a:r>
              <a:t>1 (每批立即更新)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4956048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Microsoft YaHei"/>
              </a:defRPr>
            </a:pPr>
            <a:r>
              <a:t>SCENE_BATCH=6 场景/批, 每批梯度已足够稳定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3035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DEB"/>
                </a:solidFill>
                <a:latin typeface="Microsoft YaHei"/>
              </a:defRPr>
            </a:pPr>
            <a:r>
              <a:t>Epochs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5303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Microsoft YaHei"/>
              </a:defRPr>
            </a:pPr>
            <a:r>
              <a:t>100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530352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Microsoft YaHei"/>
              </a:defRPr>
            </a:pPr>
            <a:r>
              <a:t>前30 epoch ADE快速下降, 50-100 epoch 精细调优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650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DEB"/>
                </a:solidFill>
                <a:latin typeface="Microsoft YaHei"/>
              </a:defRPr>
            </a:pPr>
            <a:r>
              <a:t>验证策略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68880" y="56509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Microsoft YaHei"/>
              </a:defRPr>
            </a:pPr>
            <a:r>
              <a:t>每epoch验证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565099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Microsoft YaHei"/>
              </a:defRPr>
            </a:pPr>
            <a:r>
              <a:t>取最佳 ADE 模型 (非最后 epoch 模型)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99846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56DEB"/>
                </a:solidFill>
                <a:latin typeface="Microsoft YaHei"/>
              </a:defRPr>
            </a:pPr>
            <a:r>
              <a:t>训练设备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68880" y="599846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Microsoft YaHei"/>
              </a:defRPr>
            </a:pPr>
            <a:r>
              <a:t>AMD 8845HS CPU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0" y="5998464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Microsoft YaHei"/>
              </a:defRPr>
            </a:pPr>
            <a:r>
              <a:t>或 Google Colab T4 GPU (免费)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Microsoft YaHe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Microsoft YaHei"/>
              </a:defRPr>
            </a:pPr>
            <a:r>
              <a:t>06  实验结果与分析 (上)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25400"/>
          </a:xfrm>
          <a:prstGeom prst="rect">
            <a:avLst/>
          </a:prstGeom>
          <a:solidFill>
            <a:srgbClr val="256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▎Social-LSTM 30 Epoch 试水训练 (stride=8, 1/8数据)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822960" cy="320040"/>
          </a:xfrm>
          <a:prstGeom prst="roundRect">
            <a:avLst/>
          </a:prstGeom>
          <a:solidFill>
            <a:srgbClr val="256DEB"/>
          </a:solidFill>
          <a:ln w="6350">
            <a:solidFill>
              <a:srgbClr val="256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Epoch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54480" y="1463040"/>
            <a:ext cx="1188720" cy="320040"/>
          </a:xfrm>
          <a:prstGeom prst="roundRect">
            <a:avLst/>
          </a:prstGeom>
          <a:solidFill>
            <a:srgbClr val="256DEB"/>
          </a:solidFill>
          <a:ln w="6350">
            <a:solidFill>
              <a:srgbClr val="256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463040"/>
            <a:ext cx="1188720" cy="320040"/>
          </a:xfrm>
          <a:prstGeom prst="roundRect">
            <a:avLst/>
          </a:prstGeom>
          <a:solidFill>
            <a:srgbClr val="256DEB"/>
          </a:solidFill>
          <a:ln w="6350">
            <a:solidFill>
              <a:srgbClr val="256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1463040"/>
            <a:ext cx="1188720" cy="320040"/>
          </a:xfrm>
          <a:prstGeom prst="roundRect">
            <a:avLst/>
          </a:prstGeom>
          <a:solidFill>
            <a:srgbClr val="256DEB"/>
          </a:solidFill>
          <a:ln w="6350">
            <a:solidFill>
              <a:srgbClr val="256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463040"/>
            <a:ext cx="1188720" cy="320040"/>
          </a:xfrm>
          <a:prstGeom prst="roundRect">
            <a:avLst/>
          </a:prstGeom>
          <a:solidFill>
            <a:srgbClr val="256DEB"/>
          </a:solidFill>
          <a:ln w="6350">
            <a:solidFill>
              <a:srgbClr val="256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63040"/>
            <a:ext cx="1188720" cy="320040"/>
          </a:xfrm>
          <a:prstGeom prst="roundRect">
            <a:avLst/>
          </a:prstGeom>
          <a:solidFill>
            <a:srgbClr val="256DEB"/>
          </a:solidFill>
          <a:ln w="6350">
            <a:solidFill>
              <a:srgbClr val="256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0" y="1463040"/>
            <a:ext cx="1188720" cy="320040"/>
          </a:xfrm>
          <a:prstGeom prst="roundRect">
            <a:avLst/>
          </a:prstGeom>
          <a:solidFill>
            <a:srgbClr val="256DEB"/>
          </a:solidFill>
          <a:ln w="6350">
            <a:solidFill>
              <a:srgbClr val="256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1463040"/>
            <a:ext cx="1188720" cy="320040"/>
          </a:xfrm>
          <a:prstGeom prst="roundRect">
            <a:avLst/>
          </a:prstGeom>
          <a:solidFill>
            <a:srgbClr val="256DEB"/>
          </a:solidFill>
          <a:ln w="6350">
            <a:solidFill>
              <a:srgbClr val="256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1783080"/>
            <a:ext cx="822960" cy="292608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Loss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54480" y="1783080"/>
            <a:ext cx="1188720" cy="292608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0.1135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1783080"/>
            <a:ext cx="1188720" cy="292608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0.0497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31920" y="1783080"/>
            <a:ext cx="1188720" cy="292608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0.0403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1783080"/>
            <a:ext cx="1188720" cy="292608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0.0335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783080"/>
            <a:ext cx="1188720" cy="292608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0.0278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0" y="1783080"/>
            <a:ext cx="1188720" cy="292608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0.0249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0" y="1783080"/>
            <a:ext cx="1188720" cy="292608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0.0214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2075688"/>
            <a:ext cx="822960" cy="292608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DC2626"/>
                </a:solidFill>
              </a:defRPr>
            </a:pPr>
            <a:r>
              <a:t>ADE(m)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554480" y="2075688"/>
            <a:ext cx="1188720" cy="292608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DC2626"/>
                </a:solidFill>
              </a:defRPr>
            </a:pPr>
            <a:r>
              <a:t>0.747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0" y="2075688"/>
            <a:ext cx="1188720" cy="292608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DC2626"/>
                </a:solidFill>
              </a:defRPr>
            </a:pPr>
            <a:r>
              <a:t>0.573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31920" y="2075688"/>
            <a:ext cx="1188720" cy="292608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DC2626"/>
                </a:solidFill>
              </a:defRPr>
            </a:pPr>
            <a:r>
              <a:t>0.535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20640" y="2075688"/>
            <a:ext cx="1188720" cy="292608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DC2626"/>
                </a:solidFill>
              </a:defRPr>
            </a:pPr>
            <a:r>
              <a:t>0.517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2075688"/>
            <a:ext cx="1188720" cy="292608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DC2626"/>
                </a:solidFill>
              </a:defRPr>
            </a:pPr>
            <a:r>
              <a:t>0.534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80" y="2075688"/>
            <a:ext cx="1188720" cy="292608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DC2626"/>
                </a:solidFill>
              </a:defRPr>
            </a:pPr>
            <a:r>
              <a:t>0.498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0" y="2075688"/>
            <a:ext cx="1188720" cy="292608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DC2626"/>
                </a:solidFill>
              </a:defRPr>
            </a:pPr>
            <a:r>
              <a:t>0.483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2368296"/>
            <a:ext cx="822960" cy="292608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FDE(m)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554480" y="2368296"/>
            <a:ext cx="1188720" cy="292608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1.433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43200" y="2368296"/>
            <a:ext cx="1188720" cy="292608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1.127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931920" y="2368296"/>
            <a:ext cx="1188720" cy="292608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1.053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120640" y="2368296"/>
            <a:ext cx="1188720" cy="292608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1.008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2368296"/>
            <a:ext cx="1188720" cy="292608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1.019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98080" y="2368296"/>
            <a:ext cx="1188720" cy="292608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0.967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86800" y="2368296"/>
            <a:ext cx="1188720" cy="292608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0.924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27432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▎核心观察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3017520"/>
            <a:ext cx="3474720" cy="1371600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31089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DEB"/>
                </a:solidFill>
                <a:latin typeface="Microsoft YaHei"/>
              </a:defRPr>
            </a:pPr>
            <a:r>
              <a:t>059669 Loss 持续下降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3429000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44"/>
                </a:solidFill>
                <a:latin typeface="Microsoft YaHei"/>
              </a:defRPr>
            </a:pPr>
            <a:r>
              <a:t>  0.114 → 0.021 (下降 5.4x)</a:t>
            </a:r>
            <a:br/>
            <a:r>
              <a:t>  第 30 epoch 仍在下降</a:t>
            </a:r>
            <a:br/>
            <a:r>
              <a:t>  未到达平台期 → 更多 epoch 有益</a:t>
            </a:r>
            <a:br/>
            <a:r>
              <a:t>  梯度流畅, 无消失/爆炸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0" y="3017520"/>
            <a:ext cx="3474720" cy="1371600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54880" y="31089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DEB"/>
                </a:solidFill>
                <a:latin typeface="Microsoft YaHei"/>
              </a:defRPr>
            </a:pPr>
            <a:r>
              <a:t>256DEB ADE 稳步改善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54880" y="3429000"/>
            <a:ext cx="3108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44"/>
                </a:solidFill>
                <a:latin typeface="Microsoft YaHei"/>
              </a:defRPr>
            </a:pPr>
            <a:r>
              <a:t>  0.747m → 0.482m (↓35%)</a:t>
            </a:r>
            <a:br/>
            <a:r>
              <a:t>  初期收敛快 (前5轮 ↓0.17m)</a:t>
            </a:r>
            <a:br/>
            <a:r>
              <a:t>  后期精细调优 (25→30 ↓0.01m)</a:t>
            </a:r>
            <a:br/>
            <a:r>
              <a:t>  仅用 1/8 数据 + 30 epoch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412480" y="3017520"/>
            <a:ext cx="3200400" cy="1371600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95359" y="31089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DEB"/>
                </a:solidFill>
                <a:latin typeface="Microsoft YaHei"/>
              </a:defRPr>
            </a:pPr>
            <a:r>
              <a:t>D97706 FDE 同步收敛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5359" y="3429000"/>
            <a:ext cx="2834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44"/>
                </a:solidFill>
                <a:latin typeface="Microsoft YaHei"/>
              </a:defRPr>
            </a:pPr>
            <a:r>
              <a:t>  1.433m → 0.924m</a:t>
            </a:r>
            <a:br/>
            <a:r>
              <a:t>  FDE 通常 &gt; ADE (更难)</a:t>
            </a:r>
            <a:br/>
            <a:r>
              <a:t>  最后一帧预测误差最大</a:t>
            </a:r>
            <a:br/>
            <a:r>
              <a:t>  需要更多训练来降低远距误差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47548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▎模型对比 (ADE ↓ 越低越好)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1520" y="5120640"/>
            <a:ext cx="914400" cy="320040"/>
          </a:xfrm>
          <a:prstGeom prst="roundRect">
            <a:avLst/>
          </a:prstGeom>
          <a:solidFill>
            <a:srgbClr val="256DEB"/>
          </a:solidFill>
          <a:ln w="6350">
            <a:solidFill>
              <a:srgbClr val="256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模型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645920" y="5120640"/>
            <a:ext cx="731520" cy="320040"/>
          </a:xfrm>
          <a:prstGeom prst="roundRect">
            <a:avLst/>
          </a:prstGeom>
          <a:solidFill>
            <a:srgbClr val="256DEB"/>
          </a:solidFill>
          <a:ln w="6350">
            <a:solidFill>
              <a:srgbClr val="256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参数量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377440" y="5120640"/>
            <a:ext cx="822960" cy="320040"/>
          </a:xfrm>
          <a:prstGeom prst="roundRect">
            <a:avLst/>
          </a:prstGeom>
          <a:solidFill>
            <a:srgbClr val="256DEB"/>
          </a:solidFill>
          <a:ln w="6350">
            <a:solidFill>
              <a:srgbClr val="256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训练Epoch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200400" y="5120640"/>
            <a:ext cx="640080" cy="320040"/>
          </a:xfrm>
          <a:prstGeom prst="roundRect">
            <a:avLst/>
          </a:prstGeom>
          <a:solidFill>
            <a:srgbClr val="256DEB"/>
          </a:solidFill>
          <a:ln w="6350">
            <a:solidFill>
              <a:srgbClr val="256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数据量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840480" y="5120640"/>
            <a:ext cx="914400" cy="320040"/>
          </a:xfrm>
          <a:prstGeom prst="roundRect">
            <a:avLst/>
          </a:prstGeom>
          <a:solidFill>
            <a:srgbClr val="256DEB"/>
          </a:solidFill>
          <a:ln w="6350">
            <a:solidFill>
              <a:srgbClr val="256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ADE (m)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754880" y="5120640"/>
            <a:ext cx="914400" cy="320040"/>
          </a:xfrm>
          <a:prstGeom prst="roundRect">
            <a:avLst/>
          </a:prstGeom>
          <a:solidFill>
            <a:srgbClr val="256DEB"/>
          </a:solidFill>
          <a:ln w="6350">
            <a:solidFill>
              <a:srgbClr val="256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FDE (m)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669280" y="5120640"/>
            <a:ext cx="1828800" cy="320040"/>
          </a:xfrm>
          <a:prstGeom prst="roundRect">
            <a:avLst/>
          </a:prstGeom>
          <a:solidFill>
            <a:srgbClr val="256DEB"/>
          </a:solidFill>
          <a:ln w="6350">
            <a:solidFill>
              <a:srgbClr val="256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备注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31520" y="5440679"/>
            <a:ext cx="914400" cy="292608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匀速基线 (CV)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645920" y="5440679"/>
            <a:ext cx="731520" cy="292608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-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377440" y="5440679"/>
            <a:ext cx="822960" cy="292608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-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200400" y="5440679"/>
            <a:ext cx="640080" cy="292608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-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840480" y="5440679"/>
            <a:ext cx="914400" cy="292608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0.480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754880" y="5440679"/>
            <a:ext cx="914400" cy="292608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0.940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669280" y="5440679"/>
            <a:ext cx="1828800" cy="292608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常数速度外推: pred=obs[-1]+vel×t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31520" y="5733288"/>
            <a:ext cx="914400" cy="29260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SimpleLSTM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645920" y="5733288"/>
            <a:ext cx="731520" cy="29260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5,400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377440" y="5733288"/>
            <a:ext cx="822960" cy="29260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100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200400" y="5733288"/>
            <a:ext cx="640080" cy="29260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全量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840480" y="5733288"/>
            <a:ext cx="914400" cy="29260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0.370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754880" y="5733288"/>
            <a:ext cx="914400" cy="29260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0.720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669280" y="5733288"/>
            <a:ext cx="1828800" cy="29260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无社交交互, 单轨迹LSTM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31520" y="6025895"/>
            <a:ext cx="914400" cy="292608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Social-LSTM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645920" y="6025895"/>
            <a:ext cx="731520" cy="292608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264K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2377440" y="6025895"/>
            <a:ext cx="822960" cy="292608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30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200400" y="6025895"/>
            <a:ext cx="640080" cy="292608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1/8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40480" y="6025895"/>
            <a:ext cx="914400" cy="292608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0.482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754880" y="6025895"/>
            <a:ext cx="914400" cy="292608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0.924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669280" y="6025895"/>
            <a:ext cx="1828800" cy="292608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本次试水 ★ (未完整训练)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31520" y="6318503"/>
            <a:ext cx="914400" cy="292608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DC2626"/>
                </a:solidFill>
              </a:defRPr>
            </a:pPr>
            <a:r>
              <a:t>Social-LSTM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645920" y="6318503"/>
            <a:ext cx="731520" cy="292608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DC2626"/>
                </a:solidFill>
              </a:defRPr>
            </a:pPr>
            <a:r>
              <a:t>264K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2377440" y="6318503"/>
            <a:ext cx="822960" cy="292608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DC2626"/>
                </a:solidFill>
              </a:defRPr>
            </a:pPr>
            <a:r>
              <a:t>100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3200400" y="6318503"/>
            <a:ext cx="640080" cy="292608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DC2626"/>
                </a:solidFill>
              </a:defRPr>
            </a:pPr>
            <a:r>
              <a:t>全量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840480" y="6318503"/>
            <a:ext cx="914400" cy="292608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DC2626"/>
                </a:solidFill>
              </a:defRPr>
            </a:pPr>
            <a:r>
              <a:t>?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754880" y="6318503"/>
            <a:ext cx="914400" cy="292608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DC2626"/>
                </a:solidFill>
              </a:defRPr>
            </a:pPr>
            <a:r>
              <a:t>?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5669280" y="6318503"/>
            <a:ext cx="1828800" cy="292608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DC2626"/>
                </a:solidFill>
              </a:defRPr>
            </a:pPr>
            <a:r>
              <a:t>预期 &lt; 0.37 (完整训练进行中)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Microsoft YaHe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Microsoft YaHei"/>
              </a:defRPr>
            </a:pPr>
            <a:r>
              <a:t>06  实验结果与分析 (下)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25400"/>
          </a:xfrm>
          <a:prstGeom prst="rect">
            <a:avLst/>
          </a:prstGeom>
          <a:solidFill>
            <a:srgbClr val="256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▎加速效果验证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463040" cy="320040"/>
          </a:xfrm>
          <a:prstGeom prst="roundRect">
            <a:avLst/>
          </a:prstGeom>
          <a:solidFill>
            <a:srgbClr val="256DEB"/>
          </a:solidFill>
          <a:ln w="6350">
            <a:solidFill>
              <a:srgbClr val="256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方案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94560" y="1463040"/>
            <a:ext cx="1005840" cy="320040"/>
          </a:xfrm>
          <a:prstGeom prst="roundRect">
            <a:avLst/>
          </a:prstGeom>
          <a:solidFill>
            <a:srgbClr val="256DEB"/>
          </a:solidFill>
          <a:ln w="6350">
            <a:solidFill>
              <a:srgbClr val="256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每批行人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463040"/>
            <a:ext cx="1097280" cy="320040"/>
          </a:xfrm>
          <a:prstGeom prst="roundRect">
            <a:avLst/>
          </a:prstGeom>
          <a:solidFill>
            <a:srgbClr val="256DEB"/>
          </a:solidFill>
          <a:ln w="6350">
            <a:solidFill>
              <a:srgbClr val="256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200场景耗时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63040"/>
            <a:ext cx="914400" cy="320040"/>
          </a:xfrm>
          <a:prstGeom prst="roundRect">
            <a:avLst/>
          </a:prstGeom>
          <a:solidFill>
            <a:srgbClr val="256DEB"/>
          </a:solidFill>
          <a:ln w="6350">
            <a:solidFill>
              <a:srgbClr val="256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加速比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1463040"/>
            <a:ext cx="1005840" cy="320040"/>
          </a:xfrm>
          <a:prstGeom prst="roundRect">
            <a:avLst/>
          </a:prstGeom>
          <a:solidFill>
            <a:srgbClr val="256DEB"/>
          </a:solidFill>
          <a:ln w="6350">
            <a:solidFill>
              <a:srgbClr val="256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CPU利用率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1097280" cy="320040"/>
          </a:xfrm>
          <a:prstGeom prst="roundRect">
            <a:avLst/>
          </a:prstGeom>
          <a:solidFill>
            <a:srgbClr val="256DEB"/>
          </a:solidFill>
          <a:ln w="6350">
            <a:solidFill>
              <a:srgbClr val="256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100ep预估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783080"/>
            <a:ext cx="1463040" cy="292608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逐场景 (原方案)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94560" y="1783080"/>
            <a:ext cx="1005840" cy="292608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8.7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1783080"/>
            <a:ext cx="1097280" cy="292608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3.5s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783080"/>
            <a:ext cx="914400" cy="292608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1.0x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12080" y="1783080"/>
            <a:ext cx="1005840" cy="292608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~35%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783080"/>
            <a:ext cx="1097280" cy="292608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~18 小时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075688"/>
            <a:ext cx="1463040" cy="29260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场景打包×4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94560" y="2075688"/>
            <a:ext cx="1005840" cy="29260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34.8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0" y="2075688"/>
            <a:ext cx="1097280" cy="29260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1.7s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2075688"/>
            <a:ext cx="914400" cy="29260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2.1x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12080" y="2075688"/>
            <a:ext cx="1005840" cy="29260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~55%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075688"/>
            <a:ext cx="1097280" cy="29260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~8 小时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2368296"/>
            <a:ext cx="1463040" cy="292608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DC2626"/>
                </a:solidFill>
              </a:defRPr>
            </a:pPr>
            <a:r>
              <a:t>场景打包×6 (当前)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2368296"/>
            <a:ext cx="1005840" cy="292608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DC2626"/>
                </a:solidFill>
              </a:defRPr>
            </a:pPr>
            <a:r>
              <a:t>52.2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0" y="2368296"/>
            <a:ext cx="1097280" cy="292608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DC2626"/>
                </a:solidFill>
              </a:defRPr>
            </a:pPr>
            <a:r>
              <a:t>1.0s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2368296"/>
            <a:ext cx="914400" cy="292608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DC2626"/>
                </a:solidFill>
              </a:defRPr>
            </a:pPr>
            <a:r>
              <a:t>3.4x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12080" y="2368296"/>
            <a:ext cx="1005840" cy="292608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DC2626"/>
                </a:solidFill>
              </a:defRPr>
            </a:pPr>
            <a:r>
              <a:t>~70%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2368296"/>
            <a:ext cx="1097280" cy="292608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DC2626"/>
                </a:solidFill>
              </a:defRPr>
            </a:pPr>
            <a:r>
              <a:t>~5 小时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2660904"/>
            <a:ext cx="1463040" cy="29260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场景打包×8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194560" y="2660904"/>
            <a:ext cx="1005840" cy="29260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69.6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0" y="2660904"/>
            <a:ext cx="1097280" cy="29260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0.9s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2660904"/>
            <a:ext cx="914400" cy="29260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3.9x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212080" y="2660904"/>
            <a:ext cx="1005840" cy="29260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~80%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2660904"/>
            <a:ext cx="1097280" cy="29260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~4.5 小时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3017520"/>
            <a:ext cx="5303520" cy="1463040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3108960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DEB"/>
                </a:solidFill>
                <a:latin typeface="Microsoft YaHei"/>
              </a:defRPr>
            </a:pPr>
            <a:r>
              <a:t>059669 场景打包正确性验证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3429000"/>
            <a:ext cx="493775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44"/>
                </a:solidFill>
                <a:latin typeface="Microsoft YaHei"/>
              </a:defRPr>
            </a:pPr>
            <a:r>
              <a:t>  验证方法: 同一份数据, 分两次推理 → 比较输出</a:t>
            </a:r>
            <a:br/>
            <a:r>
              <a:t>  设置: 场景A(3人) + 场景B(2人) → 拼接(5人) + scene_ids</a:t>
            </a:r>
            <a:br/>
            <a:r>
              <a:t>  逐场景: out_A = model(obs_A), out_B = model(obs_B)</a:t>
            </a:r>
            <a:br/>
            <a:r>
              <a:t>  打包:   out_packed = model(obs_AB, scene_ids)</a:t>
            </a:r>
            <a:br/>
            <a:r>
              <a:t>  结果: max|out_packed[:3] - out_A| = 2.98e-08</a:t>
            </a:r>
            <a:br/>
            <a:r>
              <a:t>        max|out_packed[3:] - out_B| = 8.94e-08</a:t>
            </a:r>
            <a:br/>
            <a:r>
              <a:t>  结论: 打包推理与逐场景完全等价 (浮点精度范围) ✓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3017520"/>
            <a:ext cx="5303520" cy="1463040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0" y="3108960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DEB"/>
                </a:solidFill>
                <a:latin typeface="Microsoft YaHei"/>
              </a:defRPr>
            </a:pPr>
            <a:r>
              <a:t>256DEB 消融分析 (基于 30 epoch 数据)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3429000"/>
            <a:ext cx="493775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44"/>
                </a:solidFill>
                <a:latin typeface="Microsoft YaHei"/>
              </a:defRPr>
            </a:pPr>
            <a:r>
              <a:t>  ▸ 社交池化 vs 无池化 (SimpleLSTM):</a:t>
            </a:r>
            <a:br/>
            <a:r>
              <a:t>    30 epoch: 0.609m vs 0.600m → 尚无明显优势</a:t>
            </a:r>
            <a:br/>
            <a:r>
              <a:t>    原因: Social-LSTM 参数量大12倍 → 收敛需要更多 epoch</a:t>
            </a:r>
            <a:br/>
            <a:r>
              <a:t>    预期: 完整100ep训练后反超 (论文结论 0.48→0.30)</a:t>
            </a:r>
            <a:br/>
            <a:r>
              <a:t>  </a:t>
            </a:r>
            <a:br/>
            <a:r>
              <a:t>  ▸ 不同场景密度的影响:</a:t>
            </a:r>
            <a:br/>
            <a:r>
              <a:t>    Univ (75人/帧): 社交池化收益最大 (密集交互)</a:t>
            </a:r>
            <a:br/>
            <a:r>
              <a:t>    ETH (6人/帧):  社交信号弱, 与 SimpleLSTM 接近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48463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▎与 SOTA 对比 (预期目标, 待完整训练后更新)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5212080"/>
            <a:ext cx="1097280" cy="320040"/>
          </a:xfrm>
          <a:prstGeom prst="roundRect">
            <a:avLst/>
          </a:prstGeom>
          <a:solidFill>
            <a:srgbClr val="256DEB"/>
          </a:solidFill>
          <a:ln w="6350">
            <a:solidFill>
              <a:srgbClr val="256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方法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828800" y="5212080"/>
            <a:ext cx="914400" cy="320040"/>
          </a:xfrm>
          <a:prstGeom prst="roundRect">
            <a:avLst/>
          </a:prstGeom>
          <a:solidFill>
            <a:srgbClr val="256DEB"/>
          </a:solidFill>
          <a:ln w="6350">
            <a:solidFill>
              <a:srgbClr val="256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ETH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743200" y="5212080"/>
            <a:ext cx="914400" cy="320040"/>
          </a:xfrm>
          <a:prstGeom prst="roundRect">
            <a:avLst/>
          </a:prstGeom>
          <a:solidFill>
            <a:srgbClr val="256DEB"/>
          </a:solidFill>
          <a:ln w="6350">
            <a:solidFill>
              <a:srgbClr val="256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Hotel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57600" y="5212080"/>
            <a:ext cx="914400" cy="320040"/>
          </a:xfrm>
          <a:prstGeom prst="roundRect">
            <a:avLst/>
          </a:prstGeom>
          <a:solidFill>
            <a:srgbClr val="256DEB"/>
          </a:solidFill>
          <a:ln w="6350">
            <a:solidFill>
              <a:srgbClr val="256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Univ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0" y="5212080"/>
            <a:ext cx="914400" cy="320040"/>
          </a:xfrm>
          <a:prstGeom prst="roundRect">
            <a:avLst/>
          </a:prstGeom>
          <a:solidFill>
            <a:srgbClr val="256DEB"/>
          </a:solidFill>
          <a:ln w="6350">
            <a:solidFill>
              <a:srgbClr val="256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Zara1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0" y="5212080"/>
            <a:ext cx="914400" cy="320040"/>
          </a:xfrm>
          <a:prstGeom prst="roundRect">
            <a:avLst/>
          </a:prstGeom>
          <a:solidFill>
            <a:srgbClr val="256DEB"/>
          </a:solidFill>
          <a:ln w="6350">
            <a:solidFill>
              <a:srgbClr val="256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Zara2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0" y="5212080"/>
            <a:ext cx="1097280" cy="320040"/>
          </a:xfrm>
          <a:prstGeom prst="roundRect">
            <a:avLst/>
          </a:prstGeom>
          <a:solidFill>
            <a:srgbClr val="256DEB"/>
          </a:solidFill>
          <a:ln w="6350">
            <a:solidFill>
              <a:srgbClr val="256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平均ADE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1520" y="5532120"/>
            <a:ext cx="1097280" cy="292608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Linear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828800" y="5532120"/>
            <a:ext cx="914400" cy="292608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1.33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743200" y="5532120"/>
            <a:ext cx="914400" cy="292608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0.39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657600" y="5532120"/>
            <a:ext cx="914400" cy="292608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0.82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72000" y="5532120"/>
            <a:ext cx="914400" cy="292608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0.62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0" y="5532120"/>
            <a:ext cx="914400" cy="292608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0.52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00800" y="5532120"/>
            <a:ext cx="1097280" cy="292608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0.74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31520" y="5824728"/>
            <a:ext cx="1097280" cy="29260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Vanilla LSTM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828800" y="5824728"/>
            <a:ext cx="914400" cy="29260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1.09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743200" y="5824728"/>
            <a:ext cx="914400" cy="29260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0.38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657600" y="5824728"/>
            <a:ext cx="914400" cy="29260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0.61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572000" y="5824728"/>
            <a:ext cx="914400" cy="29260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0.41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486400" y="5824728"/>
            <a:ext cx="914400" cy="29260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0.52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00800" y="5824728"/>
            <a:ext cx="1097280" cy="29260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0.60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31520" y="6117336"/>
            <a:ext cx="1097280" cy="292608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Social-LSTM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828800" y="6117336"/>
            <a:ext cx="914400" cy="292608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1.09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743200" y="6117336"/>
            <a:ext cx="914400" cy="292608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0.35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657600" y="6117336"/>
            <a:ext cx="914400" cy="292608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0.50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572000" y="6117336"/>
            <a:ext cx="914400" cy="292608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0.30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486400" y="6117336"/>
            <a:ext cx="914400" cy="292608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0.37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400800" y="6117336"/>
            <a:ext cx="1097280" cy="292608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0.52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31520" y="6409944"/>
            <a:ext cx="1097280" cy="29260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Our SimpleLSTM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828800" y="6409944"/>
            <a:ext cx="914400" cy="29260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0.60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2743200" y="6409944"/>
            <a:ext cx="914400" cy="29260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—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657600" y="6409944"/>
            <a:ext cx="914400" cy="29260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—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572000" y="6409944"/>
            <a:ext cx="914400" cy="29260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—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486400" y="6409944"/>
            <a:ext cx="914400" cy="29260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—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400800" y="6409944"/>
            <a:ext cx="1097280" cy="29260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333344"/>
                </a:solidFill>
              </a:defRPr>
            </a:pPr>
            <a:r>
              <a:t>— (单场景)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31520" y="6702552"/>
            <a:ext cx="1097280" cy="292608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DC2626"/>
                </a:solidFill>
              </a:defRPr>
            </a:pPr>
            <a:r>
              <a:t>Our SocialLSTM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828800" y="6702552"/>
            <a:ext cx="914400" cy="292608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DC2626"/>
                </a:solidFill>
              </a:defRPr>
            </a:pPr>
            <a:r>
              <a:t>?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2743200" y="6702552"/>
            <a:ext cx="914400" cy="292608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DC2626"/>
                </a:solidFill>
              </a:defRPr>
            </a:pPr>
            <a:r>
              <a:t>?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657600" y="6702552"/>
            <a:ext cx="914400" cy="292608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DC2626"/>
                </a:solidFill>
              </a:defRPr>
            </a:pPr>
            <a:r>
              <a:t>?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572000" y="6702552"/>
            <a:ext cx="914400" cy="292608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DC2626"/>
                </a:solidFill>
              </a:defRPr>
            </a:pPr>
            <a:r>
              <a:t>?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5486400" y="6702552"/>
            <a:ext cx="914400" cy="292608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DC2626"/>
                </a:solidFill>
              </a:defRPr>
            </a:pPr>
            <a:r>
              <a:t>?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400800" y="6702552"/>
            <a:ext cx="1097280" cy="292608"/>
          </a:xfrm>
          <a:prstGeom prst="roundRect">
            <a:avLst/>
          </a:prstGeom>
          <a:solidFill>
            <a:srgbClr val="E8F0FE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DC2626"/>
                </a:solidFill>
              </a:defRPr>
            </a:pPr>
            <a:r>
              <a:t>? (待完整训练)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Microsoft YaHei"/>
              </a:defRPr>
            </a:pPr>
            <a:r>
              <a:t>* SOTA 数据来自 Alahi et al. CVPR 2016 论文, 单位为米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Microsoft YaHe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Microsoft YaHei"/>
              </a:defRPr>
            </a:pPr>
            <a:r>
              <a:t>07  代码工程架构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25400"/>
          </a:xfrm>
          <a:prstGeom prst="rect">
            <a:avLst/>
          </a:prstGeom>
          <a:solidFill>
            <a:srgbClr val="256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DEB"/>
                </a:solidFill>
                <a:latin typeface="Microsoft YaHei"/>
              </a:defRPr>
            </a:pPr>
            <a:r>
              <a:t>src/config.py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11887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44"/>
                </a:solidFill>
                <a:latin typeface="Microsoft YaHei"/>
              </a:defRPr>
            </a:pPr>
            <a:r>
              <a:t>全局超参数: 维度/学习率/epoch/路径 (单点修改, 全局生效)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6420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DEB"/>
                </a:solidFill>
                <a:latin typeface="Microsoft YaHei"/>
              </a:defRPr>
            </a:pPr>
            <a:r>
              <a:t>src/data_loader.py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664208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44"/>
                </a:solidFill>
                <a:latin typeface="Microsoft YaHei"/>
              </a:defRPr>
            </a:pPr>
            <a:r>
              <a:t>原始数据加载: .txt → dict → 单轨迹窗口 (SimpleLSTM 基线用)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3969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C2626"/>
                </a:solidFill>
                <a:latin typeface="Microsoft YaHei"/>
              </a:defRPr>
            </a:pPr>
            <a:r>
              <a:t>src/scene_data_loader.py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139696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44"/>
                </a:solidFill>
                <a:latin typeface="Microsoft YaHei"/>
              </a:defRPr>
            </a:pPr>
            <a:r>
              <a:t>★ 场景级加载: 按帧分组 → 共存行人窗口 → 归一化 → PyTorch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1518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C2626"/>
                </a:solidFill>
                <a:latin typeface="Microsoft YaHei"/>
              </a:defRPr>
            </a:pPr>
            <a:r>
              <a:t>src/social_pooling.py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615184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44"/>
                </a:solidFill>
                <a:latin typeface="Microsoft YaHei"/>
              </a:defRPr>
            </a:pPr>
            <a:r>
              <a:t>★ 社交池化模块: 4×4网格 + 场景隔离 + 邻居h求和 (核心创新代码)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9067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C2626"/>
                </a:solidFill>
                <a:latin typeface="Microsoft YaHei"/>
              </a:defRPr>
            </a:pPr>
            <a:r>
              <a:t>src/model.py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09067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44"/>
                </a:solidFill>
                <a:latin typeface="Microsoft YaHei"/>
              </a:defRPr>
            </a:pPr>
            <a:r>
              <a:t>★ SocialLSTM + SimpleLSTM: LSTMCell逐步迭代 + 自回归解码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661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DEB"/>
                </a:solidFill>
                <a:latin typeface="Microsoft YaHei"/>
              </a:defRPr>
            </a:pPr>
            <a:r>
              <a:t>src/train.py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5661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44"/>
                </a:solidFill>
                <a:latin typeface="Microsoft YaHei"/>
              </a:defRPr>
            </a:pPr>
            <a:r>
              <a:t>训练入口: 场景打包批处理 + 梯度累积/裁剪 + 自动保存最佳模型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04164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DEB"/>
                </a:solidFill>
                <a:latin typeface="Microsoft YaHei"/>
              </a:defRPr>
            </a:pPr>
            <a:r>
              <a:t>src/evaluate.py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4041648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44"/>
                </a:solidFill>
                <a:latin typeface="Microsoft YaHei"/>
              </a:defRPr>
            </a:pPr>
            <a:r>
              <a:t>评估脚本: 同场景/跨场景(Leave-One-Out)/可视化 三模式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51713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DEB"/>
                </a:solidFill>
                <a:latin typeface="Microsoft YaHei"/>
              </a:defRPr>
            </a:pPr>
            <a:r>
              <a:t>src/quick_validate.py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4517136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44"/>
                </a:solidFill>
                <a:latin typeface="Microsoft YaHei"/>
              </a:defRPr>
            </a:pPr>
            <a:r>
              <a:t>快速验证: SimpleLSTM vs SocialLSTM 公平对比 (20 epoch)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99262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DEB"/>
                </a:solidFill>
                <a:latin typeface="Microsoft YaHei"/>
              </a:defRPr>
            </a:pPr>
            <a:r>
              <a:t>src/inference.py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4992624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44"/>
                </a:solidFill>
                <a:latin typeface="Microsoft YaHei"/>
              </a:defRPr>
            </a:pPr>
            <a:r>
              <a:t>单轨迹推理 + Matplotlib 可视化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46811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DEB"/>
                </a:solidFill>
                <a:latin typeface="Microsoft YaHei"/>
              </a:defRPr>
            </a:pPr>
            <a:r>
              <a:t>notebooks/train_on_colab.ipynb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546811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44"/>
                </a:solidFill>
                <a:latin typeface="Microsoft YaHei"/>
              </a:defRPr>
            </a:pPr>
            <a:r>
              <a:t>Colab 训练: 7步一键运行, 自动下载模型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99"/>
                </a:solidFill>
                <a:latin typeface="Microsoft YaHei"/>
              </a:defRPr>
            </a:pPr>
            <a:r>
              <a:t>技术栈: Python 3.12 + PyTorch 2.11 + NumPy + Matplotlib + python-pptx  |  项目地址: github.com/confidentismylife/LonlyStydue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Microsoft YaHe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Microsoft YaHei"/>
              </a:defRPr>
            </a:pPr>
            <a:r>
              <a:t>08  未来工作与论文方向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25400"/>
          </a:xfrm>
          <a:prstGeom prst="rect">
            <a:avLst/>
          </a:prstGeom>
          <a:solidFill>
            <a:srgbClr val="256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icrosoft YaHei"/>
              </a:defRPr>
            </a:pPr>
            <a:r>
              <a:t>▎五大优化方向（按优先级排列）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74720" cy="2286000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DEB"/>
                </a:solidFill>
                <a:latin typeface="Microsoft YaHei"/>
              </a:defRPr>
            </a:pPr>
            <a:r>
              <a:t>DC2626 ① 火灾场景特征融入 ★★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3108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44"/>
                </a:solidFill>
                <a:latin typeface="Microsoft YaHei"/>
              </a:defRPr>
            </a:pPr>
            <a:r>
              <a:t>  核心创新点 → 论文差异化关键</a:t>
            </a:r>
            <a:br/>
            <a:r>
              <a:t>  引入 FDS 火灾动力学模拟数据:</a:t>
            </a:r>
            <a:br/>
            <a:r>
              <a:t>    烟雾密度场 / CO 浓度 / 温度场</a:t>
            </a:r>
            <a:br/>
            <a:r>
              <a:t>    出口方向向量场 (引导方向)</a:t>
            </a:r>
            <a:br/>
            <a:r>
              <a:t>    人群密度热力图 (局部拥堵)</a:t>
            </a:r>
            <a:br/>
            <a:r>
              <a:t>  多模态输入:</a:t>
            </a:r>
            <a:br/>
            <a:r>
              <a:t>    lstm_input = [pos_emb, social_emb, fire_emb]</a:t>
            </a:r>
            <a:br/>
            <a:r>
              <a:t>    模型同时考虑人-人交互 &amp; 人-环境交互</a:t>
            </a:r>
            <a:br/>
            <a:r>
              <a:t>  贡献: 首个融合火灾环境特征的行人预测模型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554480"/>
            <a:ext cx="3474720" cy="2286000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6459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DEB"/>
                </a:solidFill>
                <a:latin typeface="Microsoft YaHei"/>
              </a:defRPr>
            </a:pPr>
            <a:r>
              <a:t>256DEB ② 损失函数升级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965960"/>
            <a:ext cx="3108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44"/>
                </a:solidFill>
                <a:latin typeface="Microsoft YaHei"/>
              </a:defRPr>
            </a:pPr>
            <a:r>
              <a:t>  MSE → 双变量高斯负对数似然 (NLL)</a:t>
            </a:r>
            <a:br/>
            <a:r>
              <a:t>    模型输出: (μx, μy, σx, σy, ρ) 5 参数</a:t>
            </a:r>
            <a:br/>
            <a:r>
              <a:t>    L = -log P(y | μ, Σ)</a:t>
            </a:r>
            <a:br/>
            <a:r>
              <a:t>    学习预测的不确定性 σ → 更符合现实</a:t>
            </a:r>
            <a:br/>
            <a:r>
              <a:t>  </a:t>
            </a:r>
            <a:br/>
            <a:r>
              <a:t>  Variety Loss (多模态预测):</a:t>
            </a:r>
            <a:br/>
            <a:r>
              <a:t>    生成 K=20 条候选轨迹</a:t>
            </a:r>
            <a:br/>
            <a:r>
              <a:t>    取与真值最接近的轨迹算 loss</a:t>
            </a:r>
            <a:br/>
            <a:r>
              <a:t>    处理行人行为的固有不确定性</a:t>
            </a:r>
            <a:br/>
            <a:r>
              <a:t>    (向左绕 vs 向右绕 都合理)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554480"/>
            <a:ext cx="3200400" cy="2286000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59" y="16459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DEB"/>
                </a:solidFill>
                <a:latin typeface="Microsoft YaHei"/>
              </a:defRPr>
            </a:pPr>
            <a:r>
              <a:t>059669 ③ 模型架构升级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59" y="1965960"/>
            <a:ext cx="28346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44"/>
                </a:solidFill>
                <a:latin typeface="Microsoft YaHei"/>
              </a:defRPr>
            </a:pPr>
            <a:r>
              <a:t>  注意力池化: 替代固定 4×4 网格</a:t>
            </a:r>
            <a:br/>
            <a:r>
              <a:t>    学习哪些邻居重要 (动态权重)</a:t>
            </a:r>
            <a:br/>
            <a:r>
              <a:t>    Attention(Q=hᵢ, K=hⱼ, V=hⱼ)</a:t>
            </a:r>
            <a:br/>
            <a:r>
              <a:t>  </a:t>
            </a:r>
            <a:br/>
            <a:r>
              <a:t>  图神经网络: GAT/GCN</a:t>
            </a:r>
            <a:br/>
            <a:r>
              <a:t>    行人 = 图节点, 交互 = 边</a:t>
            </a:r>
            <a:br/>
            <a:r>
              <a:t>    边的权重由相对距离决定</a:t>
            </a:r>
            <a:br/>
            <a:r>
              <a:t>  </a:t>
            </a:r>
            <a:br/>
            <a:r>
              <a:t>  Transformer / Perceiver</a:t>
            </a:r>
            <a:br/>
            <a:r>
              <a:t>    并行处理所有时间步</a:t>
            </a:r>
            <a:br/>
            <a:r>
              <a:t>    全局感受野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14800"/>
            <a:ext cx="3474720" cy="1645920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062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DEB"/>
                </a:solidFill>
                <a:latin typeface="Microsoft YaHei"/>
              </a:defRPr>
            </a:pPr>
            <a:r>
              <a:t>D97706 ④ 工程部署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26280"/>
            <a:ext cx="3108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44"/>
                </a:solidFill>
                <a:latin typeface="Microsoft YaHei"/>
              </a:defRPr>
            </a:pPr>
            <a:r>
              <a:t>  ONNX 导出模型 → 跨平台推理</a:t>
            </a:r>
            <a:br/>
            <a:r>
              <a:t>  TensorRT / OpenVINO 量化加速</a:t>
            </a:r>
            <a:br/>
            <a:r>
              <a:t>  C++ 运行时 (实时性 &lt; 1ms)</a:t>
            </a:r>
            <a:br/>
            <a:r>
              <a:t>  集成到数字孪生可视化平台</a:t>
            </a:r>
            <a:br/>
            <a:r>
              <a:t>  Web 端实时预测演示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4114800"/>
            <a:ext cx="3474720" cy="1645920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42062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DEB"/>
                </a:solidFill>
                <a:latin typeface="Microsoft YaHei"/>
              </a:defRPr>
            </a:pPr>
            <a:r>
              <a:t>256DEB ⑤ 完整实验体系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4526280"/>
            <a:ext cx="3108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44"/>
                </a:solidFill>
                <a:latin typeface="Microsoft YaHei"/>
              </a:defRPr>
            </a:pPr>
            <a:r>
              <a:t>  Leave-One-Out 5折交叉验证</a:t>
            </a:r>
            <a:br/>
            <a:r>
              <a:t>  消融: 社交池化/场景密度/帧数</a:t>
            </a:r>
            <a:br/>
            <a:r>
              <a:t>  鲁棒性: 加噪声/遮挡/缺失帧</a:t>
            </a:r>
            <a:br/>
            <a:r>
              <a:t>  火灾模拟场景定量评估</a:t>
            </a:r>
            <a:br/>
            <a:r>
              <a:t>  与最新 SOTA (2024-25) 对比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4114800"/>
            <a:ext cx="3200400" cy="1645920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59" y="42062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DEB"/>
                </a:solidFill>
                <a:latin typeface="Microsoft YaHei"/>
              </a:defRPr>
            </a:pPr>
            <a:r>
              <a:t>1A1A2E 论文投稿方向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59" y="4526280"/>
            <a:ext cx="28346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44"/>
                </a:solidFill>
                <a:latin typeface="Microsoft YaHei"/>
              </a:defRPr>
            </a:pPr>
            <a:r>
              <a:t>  Safety Science (安全科学)</a:t>
            </a:r>
            <a:br/>
            <a:r>
              <a:t>  Fire Technology (消防技术)</a:t>
            </a:r>
            <a:br/>
            <a:r>
              <a:t>  Physica A (统计力学)</a:t>
            </a:r>
            <a:br/>
            <a:r>
              <a:t>  Building and Environment</a:t>
            </a:r>
            <a:br/>
            <a:r>
              <a:t>  Automation in Construction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Microsoft YaHe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Microsoft YaHei"/>
              </a:defRPr>
            </a:pPr>
            <a:r>
              <a:t>总  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828800" cy="25400"/>
          </a:xfrm>
          <a:prstGeom prst="rect">
            <a:avLst/>
          </a:prstGeom>
          <a:solidFill>
            <a:srgbClr val="256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3474720" cy="1828800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DEB"/>
                </a:solidFill>
                <a:latin typeface="Microsoft YaHei"/>
              </a:defRPr>
            </a:pPr>
            <a:r>
              <a:t>059669 ✅ 已完成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3108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44"/>
                </a:solidFill>
                <a:latin typeface="Microsoft YaHei"/>
              </a:defRPr>
            </a:pPr>
            <a:r>
              <a:t>  完整数据管道 (ETH/UCY 5场景)</a:t>
            </a:r>
            <a:br/>
            <a:r>
              <a:t>  Social-LSTM 模型完整实现</a:t>
            </a:r>
            <a:br/>
            <a:r>
              <a:t>    社交池化层 (4×4 网格)</a:t>
            </a:r>
            <a:br/>
            <a:r>
              <a:t>    LSTMCell 逐时间步推理</a:t>
            </a:r>
            <a:br/>
            <a:r>
              <a:t>    编码器-解码器自回归预测</a:t>
            </a:r>
            <a:br/>
            <a:r>
              <a:t>  场景打包批处理 (3.4x 加速)</a:t>
            </a:r>
            <a:br/>
            <a:r>
              <a:t>  SimpleLSTM 基线对比</a:t>
            </a:r>
            <a:br/>
            <a:r>
              <a:t>  30 epoch 试水验证 (ADE=0.482m)</a:t>
            </a:r>
            <a:br/>
            <a:r>
              <a:t>  Colab 云端训练支持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188720"/>
            <a:ext cx="3474720" cy="1828800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2801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DEB"/>
                </a:solidFill>
                <a:latin typeface="Microsoft YaHei"/>
              </a:defRPr>
            </a:pPr>
            <a:r>
              <a:t>D97706 🔄 进行中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600200"/>
            <a:ext cx="3108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44"/>
                </a:solidFill>
                <a:latin typeface="Microsoft YaHei"/>
              </a:defRPr>
            </a:pPr>
            <a:r>
              <a:t>  100 epoch 完整训练 (stride=1)</a:t>
            </a:r>
            <a:br/>
            <a:r>
              <a:t>  Leave-One-Out 交叉验证</a:t>
            </a:r>
            <a:br/>
            <a:r>
              <a:t>  超参数网格搜索</a:t>
            </a:r>
            <a:br/>
            <a:r>
              <a:t>  与 SOTA 定量对比</a:t>
            </a:r>
            <a:br/>
            <a:r>
              <a:t>  训练曲线 + 可视化完善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1188720"/>
            <a:ext cx="3200400" cy="1828800"/>
          </a:xfrm>
          <a:prstGeom prst="roundRect">
            <a:avLst/>
          </a:prstGeom>
          <a:solidFill>
            <a:srgbClr val="F5F5F8"/>
          </a:solidFill>
          <a:ln w="635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59" y="12801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DEB"/>
                </a:solidFill>
                <a:latin typeface="Microsoft YaHei"/>
              </a:defRPr>
            </a:pPr>
            <a:r>
              <a:t>DC2626 📋 计划中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59" y="1600200"/>
            <a:ext cx="28346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44"/>
                </a:solidFill>
                <a:latin typeface="Microsoft YaHei"/>
              </a:defRPr>
            </a:pPr>
            <a:r>
              <a:t>  火灾环境特征集成 (FDS)</a:t>
            </a:r>
            <a:br/>
            <a:r>
              <a:t>  双变量高斯 NLL 损失</a:t>
            </a:r>
            <a:br/>
            <a:r>
              <a:t>  多模态轨迹预测 (K=20)</a:t>
            </a:r>
            <a:br/>
            <a:r>
              <a:t>  注意力/Transformer 升级</a:t>
            </a:r>
            <a:br/>
            <a:r>
              <a:t>  ONNX 部署 + 实时推理</a:t>
            </a:r>
            <a:br/>
            <a:r>
              <a:t>  论 文 撰 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83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▎核心贡献总结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840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44"/>
                </a:solidFill>
                <a:latin typeface="Microsoft YaHei"/>
              </a:defRPr>
            </a:pPr>
            <a:r>
              <a:t>① 从零实现完整 Social-LSTM 模型: 社交池化网格 + LSTMCell 逐时间步 + 自回归解码，263K 参数可在消费级 CPU 上训练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251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44"/>
                </a:solidFill>
                <a:latin typeface="Microsoft YaHei"/>
              </a:defRPr>
            </a:pPr>
            <a:r>
              <a:t>② 提出"场景打包批处理"策略: 多场景拼接 + scene_ids 隔离，CPU 训练速度提升 3.4 倍，从 ~18 小时降至 ~5 小时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663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44"/>
                </a:solidFill>
                <a:latin typeface="Microsoft YaHei"/>
              </a:defRPr>
            </a:pPr>
            <a:r>
              <a:t>③ 建立完整评估体系: 支持 3 种评估模式 (同场景测试 / Leave-One-Out 跨场景 / 可视化对比)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44"/>
                </a:solidFill>
                <a:latin typeface="Microsoft YaHei"/>
              </a:defRPr>
            </a:pPr>
            <a:r>
              <a:t>④ 为火灾疏散智能决策奠定基础: 行人轨迹预测 → 实时拥堵预警 → 智能疏散引导 → 减少伤亡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69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DC2626"/>
                </a:solidFill>
                <a:latin typeface="Microsoft YaHei"/>
              </a:defRPr>
            </a:pPr>
            <a:r>
              <a:t>谢  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99"/>
                </a:solidFill>
                <a:latin typeface="Microsoft YaHei"/>
              </a:defRPr>
            </a:pPr>
            <a:r>
              <a:t>欢迎提问与讨论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99"/>
                </a:solidFill>
                <a:latin typeface="Microsoft YaHe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